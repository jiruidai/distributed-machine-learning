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67" r:id="rId4"/>
    <p:sldId id="270" r:id="rId5"/>
    <p:sldId id="266" r:id="rId6"/>
    <p:sldId id="265" r:id="rId7"/>
    <p:sldId id="271" r:id="rId8"/>
  </p:sldIdLst>
  <p:sldSz cx="12192000" cy="6858000"/>
  <p:notesSz cx="6858000" cy="9144000"/>
  <p:custDataLst>
    <p:tags r:id="rId1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ED291B17-9318-49DB-B28B-6E5994AE9581}"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ED291B17-9318-49DB-B28B-6E5994AE95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D291B17-9318-49DB-B28B-6E5994AE9581}"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91B17-9318-49DB-B28B-6E5994AE9581}"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D291B17-9318-49DB-B28B-6E5994AE9581}"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D291B17-9318-49DB-B28B-6E5994AE9581}"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291B17-9318-49DB-B28B-6E5994AE9581}" type="datetime1">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A98EE3D-8CD1-4C3F-BD1C-C98C9596463C}"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545" y="371475"/>
            <a:ext cx="10140315" cy="1320800"/>
          </a:xfrm>
        </p:spPr>
        <p:txBody>
          <a:bodyPr/>
          <a:lstStyle/>
          <a:p>
            <a:pPr algn="ctr"/>
            <a:r>
              <a:rPr lang="pt-BR" altLang="zh-CN"/>
              <a:t>Model selection (based on FedSGD algorithm)</a:t>
            </a:r>
            <a:endParaRPr lang="pt-BR" altLang="zh-CN"/>
          </a:p>
        </p:txBody>
      </p:sp>
      <p:pic>
        <p:nvPicPr>
          <p:cNvPr id="6" name="图片 5"/>
          <p:cNvPicPr>
            <a:picLocks noChangeAspect="1"/>
          </p:cNvPicPr>
          <p:nvPr/>
        </p:nvPicPr>
        <p:blipFill>
          <a:blip r:embed="rId1"/>
          <a:stretch>
            <a:fillRect/>
          </a:stretch>
        </p:blipFill>
        <p:spPr>
          <a:xfrm>
            <a:off x="173990" y="1135380"/>
            <a:ext cx="2788920" cy="2896870"/>
          </a:xfrm>
          <a:prstGeom prst="rect">
            <a:avLst/>
          </a:prstGeom>
        </p:spPr>
      </p:pic>
      <p:pic>
        <p:nvPicPr>
          <p:cNvPr id="7" name="图片 6"/>
          <p:cNvPicPr>
            <a:picLocks noChangeAspect="1"/>
          </p:cNvPicPr>
          <p:nvPr/>
        </p:nvPicPr>
        <p:blipFill>
          <a:blip r:embed="rId2"/>
          <a:stretch>
            <a:fillRect/>
          </a:stretch>
        </p:blipFill>
        <p:spPr>
          <a:xfrm>
            <a:off x="3214370" y="1135380"/>
            <a:ext cx="3143885" cy="2896235"/>
          </a:xfrm>
          <a:prstGeom prst="rect">
            <a:avLst/>
          </a:prstGeom>
        </p:spPr>
      </p:pic>
      <p:pic>
        <p:nvPicPr>
          <p:cNvPr id="8" name="图片 7"/>
          <p:cNvPicPr>
            <a:picLocks noChangeAspect="1"/>
          </p:cNvPicPr>
          <p:nvPr/>
        </p:nvPicPr>
        <p:blipFill>
          <a:blip r:embed="rId3"/>
          <a:stretch>
            <a:fillRect/>
          </a:stretch>
        </p:blipFill>
        <p:spPr>
          <a:xfrm>
            <a:off x="6609715" y="1135380"/>
            <a:ext cx="3275330" cy="2788285"/>
          </a:xfrm>
          <a:prstGeom prst="rect">
            <a:avLst/>
          </a:prstGeom>
        </p:spPr>
      </p:pic>
      <p:pic>
        <p:nvPicPr>
          <p:cNvPr id="9" name="图片 8"/>
          <p:cNvPicPr>
            <a:picLocks noChangeAspect="1"/>
          </p:cNvPicPr>
          <p:nvPr/>
        </p:nvPicPr>
        <p:blipFill>
          <a:blip r:embed="rId4"/>
          <a:stretch>
            <a:fillRect/>
          </a:stretch>
        </p:blipFill>
        <p:spPr>
          <a:xfrm>
            <a:off x="2021840" y="4031615"/>
            <a:ext cx="3223260" cy="2731135"/>
          </a:xfrm>
          <a:prstGeom prst="rect">
            <a:avLst/>
          </a:prstGeom>
        </p:spPr>
      </p:pic>
      <p:pic>
        <p:nvPicPr>
          <p:cNvPr id="10" name="图片 9"/>
          <p:cNvPicPr>
            <a:picLocks noChangeAspect="1"/>
          </p:cNvPicPr>
          <p:nvPr/>
        </p:nvPicPr>
        <p:blipFill>
          <a:blip r:embed="rId5"/>
          <a:stretch>
            <a:fillRect/>
          </a:stretch>
        </p:blipFill>
        <p:spPr>
          <a:xfrm>
            <a:off x="5780405" y="4032250"/>
            <a:ext cx="3170555" cy="2730500"/>
          </a:xfrm>
          <a:prstGeom prst="rect">
            <a:avLst/>
          </a:prstGeom>
        </p:spPr>
      </p:pic>
      <p:sp>
        <p:nvSpPr>
          <p:cNvPr id="11" name="文本框 10"/>
          <p:cNvSpPr txBox="1"/>
          <p:nvPr/>
        </p:nvSpPr>
        <p:spPr>
          <a:xfrm>
            <a:off x="10205085" y="1135380"/>
            <a:ext cx="1826895" cy="1014730"/>
          </a:xfrm>
          <a:prstGeom prst="rect">
            <a:avLst/>
          </a:prstGeom>
          <a:noFill/>
        </p:spPr>
        <p:txBody>
          <a:bodyPr wrap="square" rtlCol="0">
            <a:spAutoFit/>
          </a:bodyPr>
          <a:p>
            <a:r>
              <a:rPr lang="zh-CN" altLang="en-US" sz="1200">
                <a:latin typeface="Times New Roman" panose="02020603050405020304" charset="0"/>
                <a:cs typeface="Times New Roman" panose="02020603050405020304" charset="0"/>
              </a:rPr>
              <a:t>All experiments follow the principle of controlled variables, and the learning rate of its NET model is set to 0.01</a:t>
            </a:r>
            <a:endParaRPr lang="zh-CN" altLang="en-US" sz="12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Model result analysis</a:t>
            </a:r>
            <a:endParaRPr lang="zh-CN" altLang="en-US"/>
          </a:p>
        </p:txBody>
      </p:sp>
      <p:graphicFrame>
        <p:nvGraphicFramePr>
          <p:cNvPr id="5" name="表格 4"/>
          <p:cNvGraphicFramePr/>
          <p:nvPr/>
        </p:nvGraphicFramePr>
        <p:xfrm>
          <a:off x="8447723" y="243205"/>
          <a:ext cx="3489325" cy="1608455"/>
        </p:xfrm>
        <a:graphic>
          <a:graphicData uri="http://schemas.openxmlformats.org/drawingml/2006/table">
            <a:tbl>
              <a:tblPr/>
              <a:tblGrid>
                <a:gridCol w="2138363"/>
                <a:gridCol w="1350962"/>
              </a:tblGrid>
              <a:tr h="211455">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Model</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Accuracy</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Net</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ResNet</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0.6742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LSTM</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0.7013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CNN</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0.8033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FCNN</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0.8034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7" name="文本框 6"/>
          <p:cNvSpPr txBox="1"/>
          <p:nvPr/>
        </p:nvSpPr>
        <p:spPr>
          <a:xfrm>
            <a:off x="796925" y="1930400"/>
            <a:ext cx="7651115" cy="4132580"/>
          </a:xfrm>
          <a:prstGeom prst="rect">
            <a:avLst/>
          </a:prstGeom>
          <a:noFill/>
        </p:spPr>
        <p:txBody>
          <a:bodyPr wrap="square" rtlCol="0">
            <a:noAutofit/>
          </a:bodyPr>
          <a:p>
            <a:pPr algn="just"/>
            <a:r>
              <a:rPr lang="zh-CN" altLang="en-US" sz="1600">
                <a:latin typeface="Times New Roman" panose="02020603050405020304" charset="0"/>
                <a:cs typeface="Times New Roman" panose="02020603050405020304" charset="0"/>
              </a:rPr>
              <a:t>(1) Why is the final accuracy of the net model only 0.1?</a:t>
            </a:r>
            <a:endParaRPr lang="zh-CN" altLang="en-US" sz="1600">
              <a:latin typeface="Times New Roman" panose="02020603050405020304" charset="0"/>
              <a:cs typeface="Times New Roman" panose="02020603050405020304" charset="0"/>
            </a:endParaRPr>
          </a:p>
          <a:p>
            <a:pPr algn="just"/>
            <a:r>
              <a:rPr lang="en-US" altLang="zh-CN" sz="1600">
                <a:latin typeface="Times New Roman" panose="02020603050405020304" charset="0"/>
                <a:cs typeface="Times New Roman" panose="02020603050405020304" charset="0"/>
              </a:rPr>
              <a:t>    Weight update strategy problem: The weight update strategy used in the code is to simply fuse the weight of the local model with the weight of the global model. </a:t>
            </a:r>
            <a:r>
              <a:rPr lang="en-US" altLang="zh-CN" sz="1600" b="1">
                <a:latin typeface="Times New Roman" panose="02020603050405020304" charset="0"/>
                <a:cs typeface="Times New Roman" panose="02020603050405020304" charset="0"/>
              </a:rPr>
              <a:t>This approach may not effectively integrate local updates across clients, especially when client data is unevenly distributed or the model is not sufficiently trained locally.</a:t>
            </a:r>
            <a:endParaRPr lang="en-US" altLang="zh-CN"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(2) Why are the LSTM and RESNET models not suitable for this task?</a:t>
            </a:r>
            <a:endParaRPr lang="zh-CN" altLang="en-US" sz="1600">
              <a:latin typeface="Times New Roman" panose="02020603050405020304" charset="0"/>
              <a:cs typeface="Times New Roman" panose="02020603050405020304" charset="0"/>
            </a:endParaRPr>
          </a:p>
          <a:p>
            <a:pPr algn="just"/>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LSTM model: </a:t>
            </a:r>
            <a:r>
              <a:rPr lang="zh-CN" altLang="en-US" sz="1600" b="1">
                <a:latin typeface="Times New Roman" panose="02020603050405020304" charset="0"/>
                <a:cs typeface="Times New Roman" panose="02020603050405020304" charset="0"/>
              </a:rPr>
              <a:t>LSTM is a neural network specifically designed to process sequence data. Since Fashion-MNIST is an image classification task and image data does not have time dependence like sequence data</a:t>
            </a:r>
            <a:r>
              <a:rPr lang="zh-CN" altLang="en-US" sz="1600">
                <a:latin typeface="Times New Roman" panose="02020603050405020304" charset="0"/>
                <a:cs typeface="Times New Roman" panose="02020603050405020304" charset="0"/>
              </a:rPr>
              <a:t>, LSTM is not suitable for such image classification tasks.</a:t>
            </a:r>
            <a:endParaRPr lang="zh-CN" altLang="en-US" sz="1600">
              <a:latin typeface="Times New Roman" panose="02020603050405020304" charset="0"/>
              <a:cs typeface="Times New Roman" panose="02020603050405020304" charset="0"/>
            </a:endParaRPr>
          </a:p>
          <a:p>
            <a:pPr algn="just"/>
            <a:r>
              <a:rPr lang="en-US" altLang="zh-CN" sz="1600">
                <a:latin typeface="Times New Roman" panose="02020603050405020304" charset="0"/>
                <a:cs typeface="Times New Roman" panose="02020603050405020304" charset="0"/>
              </a:rPr>
              <a:t>     ResNet model: Although ResNet is a very powerful image recognition model, it is designed to handle more complex and deeper image recognition tasks than Fashion-MNIST. </a:t>
            </a:r>
            <a:r>
              <a:rPr lang="en-US" altLang="zh-CN" sz="1600" b="1">
                <a:latin typeface="Times New Roman" panose="02020603050405020304" charset="0"/>
                <a:cs typeface="Times New Roman" panose="02020603050405020304" charset="0"/>
              </a:rPr>
              <a:t>For the relatively simple Fashion-MNIST data set, using ResNet may lead to unnecessary waste of computing resources, and the model may be too complex and prone to overfitting.</a:t>
            </a:r>
            <a:endParaRPr lang="en-US" altLang="zh-CN" sz="1600" b="1">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5729" y="1940244"/>
            <a:ext cx="8596668" cy="3880773"/>
          </a:xfrm>
        </p:spPr>
        <p:txBody>
          <a:bodyPr>
            <a:noAutofit/>
          </a:bodyPr>
          <a:p>
            <a:pPr marL="0" indent="0" algn="just">
              <a:buNone/>
            </a:pPr>
            <a:r>
              <a:rPr lang="zh-CN" altLang="en-US" sz="1400">
                <a:latin typeface="Times New Roman" panose="02020603050405020304" charset="0"/>
                <a:cs typeface="Times New Roman" panose="02020603050405020304" charset="0"/>
                <a:sym typeface="+mn-ea"/>
              </a:rPr>
              <a:t>(3) Why are the model of FCNN more accurate?</a:t>
            </a:r>
            <a:endParaRPr lang="zh-CN" altLang="en-US" sz="1400">
              <a:latin typeface="Times New Roman" panose="02020603050405020304" charset="0"/>
              <a:cs typeface="Times New Roman" panose="02020603050405020304" charset="0"/>
            </a:endParaRPr>
          </a:p>
          <a:p>
            <a:pPr marL="0" indent="0" algn="just">
              <a:buNone/>
            </a:pPr>
            <a:r>
              <a:rPr lang="en-US" altLang="zh-CN" sz="1400">
                <a:latin typeface="Times New Roman" panose="02020603050405020304" charset="0"/>
                <a:cs typeface="Times New Roman" panose="02020603050405020304" charset="0"/>
              </a:rPr>
              <a:t>     </a:t>
            </a:r>
            <a:r>
              <a:rPr lang="zh-CN" altLang="en-US" sz="1400">
                <a:solidFill>
                  <a:schemeClr val="tx1"/>
                </a:solidFill>
                <a:latin typeface="Times New Roman" panose="02020603050405020304" charset="0"/>
                <a:cs typeface="Times New Roman" panose="02020603050405020304" charset="0"/>
              </a:rPr>
              <a:t>FCNN: Although generally FCNN is used for image segmentation tasks, </a:t>
            </a:r>
            <a:r>
              <a:rPr lang="zh-CN" altLang="en-US" sz="1400" b="1">
                <a:solidFill>
                  <a:schemeClr val="tx1"/>
                </a:solidFill>
                <a:latin typeface="Times New Roman" panose="02020603050405020304" charset="0"/>
                <a:cs typeface="Times New Roman" panose="02020603050405020304" charset="0"/>
              </a:rPr>
              <a:t>in classification tasks, fully convolutional networks effectively learn the local features of images by leveraging their spatial hierarchical performance, thereby achieving high accuracy.</a:t>
            </a:r>
            <a:endParaRPr lang="zh-CN" altLang="en-US" sz="1400">
              <a:solidFill>
                <a:schemeClr val="tx1"/>
              </a:solidFill>
              <a:latin typeface="Times New Roman" panose="02020603050405020304" charset="0"/>
              <a:cs typeface="Times New Roman" panose="02020603050405020304" charset="0"/>
            </a:endParaRPr>
          </a:p>
          <a:p>
            <a:pPr marL="0" indent="0" algn="just">
              <a:buNone/>
            </a:pPr>
            <a:r>
              <a:rPr lang="zh-CN" altLang="en-US" sz="1400">
                <a:latin typeface="Times New Roman" panose="02020603050405020304" charset="0"/>
                <a:cs typeface="Times New Roman" panose="02020603050405020304" charset="0"/>
                <a:sym typeface="+mn-ea"/>
              </a:rPr>
              <a:t>(4) Why is CNN more suitable than other models for processing the Fashion-MNIST data set when choosing a model architecture?</a:t>
            </a:r>
            <a:endParaRPr lang="zh-CN" altLang="en-US" sz="1400">
              <a:latin typeface="Times New Roman" panose="02020603050405020304" charset="0"/>
              <a:cs typeface="Times New Roman" panose="02020603050405020304" charset="0"/>
            </a:endParaRPr>
          </a:p>
          <a:p>
            <a:pPr marL="0" indent="0" algn="just">
              <a:buNone/>
            </a:pPr>
            <a:r>
              <a:rPr lang="en-US" altLang="zh-CN" sz="1400">
                <a:latin typeface="Times New Roman" panose="02020603050405020304" charset="0"/>
                <a:cs typeface="Times New Roman" panose="02020603050405020304" charset="0"/>
              </a:rPr>
              <a:t>     ①Feature extraction capability: </a:t>
            </a:r>
            <a:r>
              <a:rPr lang="en-US" altLang="zh-CN" sz="1400" b="1">
                <a:latin typeface="Times New Roman" panose="02020603050405020304" charset="0"/>
                <a:cs typeface="Times New Roman" panose="02020603050405020304" charset="0"/>
              </a:rPr>
              <a:t>CNN automatically extracts important features from images through convolutional layers without manually designing feature extractor</a:t>
            </a:r>
            <a:r>
              <a:rPr lang="en-US" altLang="zh-CN" sz="1400">
                <a:latin typeface="Times New Roman" panose="02020603050405020304" charset="0"/>
                <a:cs typeface="Times New Roman" panose="02020603050405020304" charset="0"/>
              </a:rPr>
              <a:t>s, which is very important for Fashion-MNIST images containing complex patterns and styles.</a:t>
            </a:r>
            <a:endParaRPr lang="en-US" altLang="zh-CN" sz="1400">
              <a:latin typeface="Times New Roman" panose="02020603050405020304" charset="0"/>
              <a:cs typeface="Times New Roman" panose="02020603050405020304" charset="0"/>
            </a:endParaRPr>
          </a:p>
          <a:p>
            <a:pPr marL="0" indent="0" algn="just">
              <a:buNone/>
            </a:pPr>
            <a:r>
              <a:rPr lang="en-US" altLang="zh-CN" sz="1400">
                <a:latin typeface="Times New Roman" panose="02020603050405020304" charset="0"/>
                <a:cs typeface="Times New Roman" panose="02020603050405020304" charset="0"/>
              </a:rPr>
              <a:t>      ② Model complexity and computational efficiency: </a:t>
            </a:r>
            <a:r>
              <a:rPr lang="en-US" altLang="zh-CN" sz="1400" b="1">
                <a:latin typeface="Times New Roman" panose="02020603050405020304" charset="0"/>
                <a:cs typeface="Times New Roman" panose="02020603050405020304" charset="0"/>
              </a:rPr>
              <a:t>CNN models can be designed to be relatively lightweight, fast in training, and easy to debug and optimize.</a:t>
            </a:r>
            <a:endParaRPr lang="en-US" altLang="zh-CN" sz="1400" b="1">
              <a:latin typeface="Times New Roman" panose="02020603050405020304" charset="0"/>
              <a:cs typeface="Times New Roman" panose="02020603050405020304" charset="0"/>
            </a:endParaRPr>
          </a:p>
          <a:p>
            <a:pPr marL="0" indent="0" algn="just">
              <a:buNone/>
            </a:pPr>
            <a:r>
              <a:rPr lang="en-US" altLang="zh-CN" sz="1400" b="1">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③Local connection and weight sharing: These two characteristics of CNN reduce the number of parameters of the model and improve its generalization ability. </a:t>
            </a:r>
            <a:r>
              <a:rPr lang="en-US" altLang="zh-CN" sz="1400" b="1">
                <a:latin typeface="Times New Roman" panose="02020603050405020304" charset="0"/>
                <a:cs typeface="Times New Roman" panose="02020603050405020304" charset="0"/>
              </a:rPr>
              <a:t>This means that the CNN is better able to learn from limited training samples and reduces the risk of overfitting.</a:t>
            </a:r>
            <a:endParaRPr lang="en-US" altLang="zh-CN" sz="1400" b="1">
              <a:latin typeface="Times New Roman" panose="02020603050405020304" charset="0"/>
              <a:cs typeface="Times New Roman" panose="02020603050405020304" charset="0"/>
            </a:endParaRPr>
          </a:p>
          <a:p>
            <a:pPr marL="0" indent="0" algn="just">
              <a:buNone/>
            </a:pPr>
            <a:r>
              <a:rPr lang="en-US" altLang="zh-CN" sz="1400" b="1">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④Spatial hierarchy: Through multi-layer convolution and pooling operations, CNN is able to capture the hierarchical structure in the image, from simple edges to complex shapes and patterns. </a:t>
            </a:r>
            <a:r>
              <a:rPr lang="en-US" altLang="zh-CN" sz="1400" b="1">
                <a:latin typeface="Times New Roman" panose="02020603050405020304" charset="0"/>
                <a:cs typeface="Times New Roman" panose="02020603050405020304" charset="0"/>
              </a:rPr>
              <a:t>This is very useful for clothing image classification in Fashion-MNIST because clothing images contain various shapes and textures.</a:t>
            </a:r>
            <a:endParaRPr lang="en-US" altLang="zh-CN" sz="1400" b="1">
              <a:latin typeface="Times New Roman" panose="02020603050405020304" charset="0"/>
              <a:cs typeface="Times New Roman" panose="02020603050405020304" charset="0"/>
            </a:endParaRPr>
          </a:p>
        </p:txBody>
      </p:sp>
      <p:sp>
        <p:nvSpPr>
          <p:cNvPr id="4" name="标题 1"/>
          <p:cNvSpPr>
            <a:spLocks noGrp="1"/>
          </p:cNvSpPr>
          <p:nvPr/>
        </p:nvSpPr>
        <p:spPr>
          <a:xfrm>
            <a:off x="804334" y="7366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a:t>Model result analysis</a:t>
            </a:r>
            <a:endParaRPr lang="zh-CN" altLang="en-US"/>
          </a:p>
        </p:txBody>
      </p:sp>
      <p:graphicFrame>
        <p:nvGraphicFramePr>
          <p:cNvPr id="5" name="表格 4"/>
          <p:cNvGraphicFramePr/>
          <p:nvPr/>
        </p:nvGraphicFramePr>
        <p:xfrm>
          <a:off x="8447723" y="243205"/>
          <a:ext cx="3489325" cy="1608455"/>
        </p:xfrm>
        <a:graphic>
          <a:graphicData uri="http://schemas.openxmlformats.org/drawingml/2006/table">
            <a:tbl>
              <a:tblPr/>
              <a:tblGrid>
                <a:gridCol w="2138363"/>
                <a:gridCol w="1350962"/>
              </a:tblGrid>
              <a:tr h="211455">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Model</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Accuracy</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Net</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ResNet</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0.6742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LSTM</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0.7013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CNN</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0.8033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FCNN</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0.8034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77545" y="398145"/>
            <a:ext cx="9566910" cy="1320800"/>
          </a:xfrm>
        </p:spPr>
        <p:txBody>
          <a:bodyPr/>
          <a:p>
            <a:r>
              <a:rPr lang="zh-CN" altLang="en-US"/>
              <a:t>Algorithm comparison (based on CNN model)</a:t>
            </a:r>
            <a:endParaRPr lang="zh-CN" altLang="en-US"/>
          </a:p>
        </p:txBody>
      </p:sp>
      <p:pic>
        <p:nvPicPr>
          <p:cNvPr id="4" name="图片 3"/>
          <p:cNvPicPr>
            <a:picLocks noChangeAspect="1"/>
          </p:cNvPicPr>
          <p:nvPr/>
        </p:nvPicPr>
        <p:blipFill>
          <a:blip r:embed="rId1"/>
          <a:stretch>
            <a:fillRect/>
          </a:stretch>
        </p:blipFill>
        <p:spPr>
          <a:xfrm>
            <a:off x="410210" y="1149985"/>
            <a:ext cx="3345815" cy="2834005"/>
          </a:xfrm>
          <a:prstGeom prst="rect">
            <a:avLst/>
          </a:prstGeom>
        </p:spPr>
      </p:pic>
      <p:pic>
        <p:nvPicPr>
          <p:cNvPr id="5" name="图片 4"/>
          <p:cNvPicPr>
            <a:picLocks noChangeAspect="1"/>
          </p:cNvPicPr>
          <p:nvPr/>
        </p:nvPicPr>
        <p:blipFill>
          <a:blip r:embed="rId2"/>
          <a:stretch>
            <a:fillRect/>
          </a:stretch>
        </p:blipFill>
        <p:spPr>
          <a:xfrm>
            <a:off x="4264660" y="1092835"/>
            <a:ext cx="3511550" cy="2952750"/>
          </a:xfrm>
          <a:prstGeom prst="rect">
            <a:avLst/>
          </a:prstGeom>
        </p:spPr>
      </p:pic>
      <p:pic>
        <p:nvPicPr>
          <p:cNvPr id="6" name="图片 5"/>
          <p:cNvPicPr>
            <a:picLocks noChangeAspect="1"/>
          </p:cNvPicPr>
          <p:nvPr/>
        </p:nvPicPr>
        <p:blipFill>
          <a:blip r:embed="rId3"/>
          <a:stretch>
            <a:fillRect/>
          </a:stretch>
        </p:blipFill>
        <p:spPr>
          <a:xfrm>
            <a:off x="8185785" y="1149985"/>
            <a:ext cx="3194685" cy="2976245"/>
          </a:xfrm>
          <a:prstGeom prst="rect">
            <a:avLst/>
          </a:prstGeom>
        </p:spPr>
      </p:pic>
      <p:pic>
        <p:nvPicPr>
          <p:cNvPr id="7" name="图片 6"/>
          <p:cNvPicPr>
            <a:picLocks noChangeAspect="1"/>
          </p:cNvPicPr>
          <p:nvPr/>
        </p:nvPicPr>
        <p:blipFill>
          <a:blip r:embed="rId4"/>
          <a:stretch>
            <a:fillRect/>
          </a:stretch>
        </p:blipFill>
        <p:spPr>
          <a:xfrm>
            <a:off x="4264660" y="4126230"/>
            <a:ext cx="3512820" cy="2614295"/>
          </a:xfrm>
          <a:prstGeom prst="rect">
            <a:avLst/>
          </a:prstGeom>
        </p:spPr>
      </p:pic>
      <p:sp>
        <p:nvSpPr>
          <p:cNvPr id="11" name="文本框 10"/>
          <p:cNvSpPr txBox="1"/>
          <p:nvPr/>
        </p:nvSpPr>
        <p:spPr>
          <a:xfrm>
            <a:off x="8934450" y="4824730"/>
            <a:ext cx="1826895" cy="645160"/>
          </a:xfrm>
          <a:prstGeom prst="rect">
            <a:avLst/>
          </a:prstGeom>
          <a:noFill/>
        </p:spPr>
        <p:txBody>
          <a:bodyPr wrap="square" rtlCol="0">
            <a:spAutoFit/>
          </a:bodyPr>
          <a:p>
            <a:r>
              <a:rPr lang="zh-CN" altLang="en-US" sz="1200">
                <a:latin typeface="Times New Roman" panose="02020603050405020304" charset="0"/>
                <a:cs typeface="Times New Roman" panose="02020603050405020304" charset="0"/>
              </a:rPr>
              <a:t>All experiments follow the principle of controlled variables</a:t>
            </a:r>
            <a:r>
              <a:rPr lang="en-US" altLang="zh-CN" sz="1200">
                <a:latin typeface="Times New Roman" panose="02020603050405020304" charset="0"/>
                <a:cs typeface="Times New Roman" panose="02020603050405020304" charset="0"/>
              </a:rPr>
              <a:t>.</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Algorithm result analysis</a:t>
            </a:r>
            <a:endParaRPr lang="zh-CN" altLang="en-US"/>
          </a:p>
        </p:txBody>
      </p:sp>
      <p:graphicFrame>
        <p:nvGraphicFramePr>
          <p:cNvPr id="4" name="表格 3"/>
          <p:cNvGraphicFramePr/>
          <p:nvPr/>
        </p:nvGraphicFramePr>
        <p:xfrm>
          <a:off x="8331518" y="837565"/>
          <a:ext cx="0" cy="1397000"/>
        </p:xfrm>
        <a:graphic>
          <a:graphicData uri="http://schemas.openxmlformats.org/drawingml/2006/table">
            <a:tbl>
              <a:tblPr/>
              <a:tblGrid>
                <a:gridCol w="2138363"/>
                <a:gridCol w="1350962"/>
              </a:tblGrid>
              <a:tr h="27940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Algorithm</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Accuracy</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FedSGD</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0.8025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FedAvg</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0.9004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ScafFold</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0.9023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FedProx</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0.9168</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1082675" y="1930400"/>
            <a:ext cx="6981190" cy="4184650"/>
          </a:xfrm>
          <a:prstGeom prst="rect">
            <a:avLst/>
          </a:prstGeom>
          <a:noFill/>
        </p:spPr>
        <p:txBody>
          <a:bodyPr wrap="square" rtlCol="0">
            <a:spAutoFit/>
          </a:bodyPr>
          <a:p>
            <a:pPr algn="just"/>
            <a:r>
              <a:rPr lang="zh-CN" altLang="en-US" sz="1400">
                <a:latin typeface="Times New Roman" panose="02020603050405020304" charset="0"/>
                <a:cs typeface="Times New Roman" panose="02020603050405020304" charset="0"/>
              </a:rPr>
              <a:t>(1) Why does the FedSGD algorithm have the lowest final accuracy?</a:t>
            </a:r>
            <a:endParaRPr lang="zh-CN" altLang="en-US" sz="1400">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The FedSGD algorithm works by completing a gradient update independently on each client and then sending all clients' updates to a central server for averaging. A major drawback of this approach is that it does not take into account the non-IID nature of the data across clients. </a:t>
            </a:r>
            <a:r>
              <a:rPr lang="zh-CN" altLang="en-US" sz="1400" b="1">
                <a:latin typeface="Times New Roman" panose="02020603050405020304" charset="0"/>
                <a:cs typeface="Times New Roman" panose="02020603050405020304" charset="0"/>
              </a:rPr>
              <a:t>In this project, each client may have data with different characteristics, which will cause the features learned by the model during local updates to be non-universal, thus affecting the performance and generalization ability of the overall model.</a:t>
            </a:r>
            <a:endParaRPr lang="zh-CN" altLang="en-US" sz="1400" b="1">
              <a:latin typeface="Times New Roman" panose="02020603050405020304" charset="0"/>
              <a:cs typeface="Times New Roman" panose="02020603050405020304" charset="0"/>
            </a:endParaRPr>
          </a:p>
          <a:p>
            <a:pPr algn="just"/>
            <a:r>
              <a:rPr lang="zh-CN" altLang="en-US" sz="1400" b="1">
                <a:latin typeface="Times New Roman" panose="02020603050405020304" charset="0"/>
                <a:cs typeface="Times New Roman" panose="02020603050405020304" charset="0"/>
              </a:rPr>
              <a:t>(2) </a:t>
            </a:r>
            <a:r>
              <a:rPr lang="zh-CN" altLang="en-US" sz="1400">
                <a:latin typeface="Times New Roman" panose="02020603050405020304" charset="0"/>
                <a:cs typeface="Times New Roman" panose="02020603050405020304" charset="0"/>
              </a:rPr>
              <a:t>Why are FedAvg and SCAFFOLD obviously different algorithms, but their final accuracy is almost the same?</a:t>
            </a:r>
            <a:endParaRPr lang="zh-CN" altLang="en-US" sz="1400" b="1">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The FedAvg algorithm improves upon FedSGD by running multiple local iterations on each client and then averaging these updates. This approach can reduce communication costs and allow more complex local model training, thereby improving model performance.</a:t>
            </a:r>
            <a:endParaRPr lang="zh-CN" altLang="en-US" sz="1400">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The SCAFFOLD algorithm further optimizes the federated learning process by introducing control variables to correct deviations in client updates, which helps to deal with the problem of non-independent and identically distributed data. </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However, although SCAFFOLD provides better bias correction in theory, its performance in this project may be similar to FedAvg. </a:t>
            </a:r>
            <a:r>
              <a:rPr lang="zh-CN" altLang="en-US" sz="1400" b="1">
                <a:latin typeface="Times New Roman" panose="02020603050405020304" charset="0"/>
                <a:cs typeface="Times New Roman" panose="02020603050405020304" charset="0"/>
              </a:rPr>
              <a:t>This may be because the FedAvg algorithm has been fully adapted to the FedAvg algorithm in data sets such as Fashion-MNIST, making both The performance is close.</a:t>
            </a:r>
            <a:endParaRPr lang="zh-CN" altLang="en-US" sz="1400" b="1">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Algorithm result analysis</a:t>
            </a:r>
            <a:endParaRPr lang="zh-CN" altLang="en-US"/>
          </a:p>
        </p:txBody>
      </p:sp>
      <p:graphicFrame>
        <p:nvGraphicFramePr>
          <p:cNvPr id="4" name="表格 3"/>
          <p:cNvGraphicFramePr/>
          <p:nvPr/>
        </p:nvGraphicFramePr>
        <p:xfrm>
          <a:off x="8331518" y="837565"/>
          <a:ext cx="3489325" cy="1397000"/>
        </p:xfrm>
        <a:graphic>
          <a:graphicData uri="http://schemas.openxmlformats.org/drawingml/2006/table">
            <a:tbl>
              <a:tblPr/>
              <a:tblGrid>
                <a:gridCol w="2138363"/>
                <a:gridCol w="1350962"/>
              </a:tblGrid>
              <a:tr h="27940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Algorithm</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Accuracy</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FedSGD</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0.8025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FedAvg</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0.9004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ScafFold</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0.9023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27940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FedProx</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0.9168</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949960" y="2030095"/>
            <a:ext cx="7263765" cy="2061210"/>
          </a:xfrm>
          <a:prstGeom prst="rect">
            <a:avLst/>
          </a:prstGeom>
          <a:noFill/>
        </p:spPr>
        <p:txBody>
          <a:bodyPr wrap="square" rtlCol="0">
            <a:spAutoFit/>
          </a:bodyPr>
          <a:p>
            <a:pPr algn="just"/>
            <a:r>
              <a:rPr lang="zh-CN" altLang="en-US" sz="1600">
                <a:latin typeface="Times New Roman" panose="02020603050405020304" charset="0"/>
                <a:cs typeface="Times New Roman" panose="02020603050405020304" charset="0"/>
              </a:rPr>
              <a:t>(3) Why does the FedProx algorithm have the highest final accuracy?</a:t>
            </a:r>
            <a:endParaRPr lang="zh-CN" altLang="en-US" sz="1600">
              <a:latin typeface="Times New Roman" panose="02020603050405020304" charset="0"/>
              <a:cs typeface="Times New Roman" panose="02020603050405020304" charset="0"/>
            </a:endParaRPr>
          </a:p>
          <a:p>
            <a:pPr algn="just"/>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The FedProx algorithm is a variant of FedAvg, which handles heterogeneous data, that is, differences in data distribution on different clients, by adding a regularization term to local updates. This regularization term helps stabilize the training process and ensures smoother and more consistent model updates for each client, even in the presence of large differences in data distribution. </a:t>
            </a:r>
            <a:r>
              <a:rPr lang="zh-CN" altLang="en-US" sz="1600" b="1">
                <a:latin typeface="Times New Roman" panose="02020603050405020304" charset="0"/>
                <a:cs typeface="Times New Roman" panose="02020603050405020304" charset="0"/>
              </a:rPr>
              <a:t>This approach improves the model's robustness and ultimate performance on diverse data sources, especially when faced with </a:t>
            </a:r>
            <a:r>
              <a:rPr lang="en-US" altLang="zh-CN" sz="1600" b="1">
                <a:latin typeface="Times New Roman" panose="02020603050405020304" charset="0"/>
                <a:cs typeface="Times New Roman" panose="02020603050405020304" charset="0"/>
              </a:rPr>
              <a:t>Fashion-MINST</a:t>
            </a:r>
            <a:r>
              <a:rPr lang="zh-CN" altLang="en-US" sz="1600" b="1">
                <a:latin typeface="Times New Roman" panose="02020603050405020304" charset="0"/>
                <a:cs typeface="Times New Roman" panose="02020603050405020304" charset="0"/>
              </a:rPr>
              <a:t> data that is common in the real world</a:t>
            </a:r>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commondata" val="eyJoZGlkIjoiZjZkMDdhODYzMjZiYTc1NGJkY2U4MTNjZTgyNDE4ODAifQ=="/>
</p:tagLst>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5270</Words>
  <Application>WPS 演示</Application>
  <PresentationFormat>宽屏</PresentationFormat>
  <Paragraphs>128</Paragraphs>
  <Slides>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vt:i4>
      </vt:variant>
    </vt:vector>
  </HeadingPairs>
  <TitlesOfParts>
    <vt:vector size="19" baseType="lpstr">
      <vt:lpstr>Arial</vt:lpstr>
      <vt:lpstr>宋体</vt:lpstr>
      <vt:lpstr>Wingdings</vt:lpstr>
      <vt:lpstr>Wingdings 3</vt:lpstr>
      <vt:lpstr>Arial</vt:lpstr>
      <vt:lpstr>Trebuchet MS</vt:lpstr>
      <vt:lpstr>华文新魏</vt:lpstr>
      <vt:lpstr>微软雅黑</vt:lpstr>
      <vt:lpstr>Arial Unicode MS</vt:lpstr>
      <vt:lpstr>方正姚体</vt:lpstr>
      <vt:lpstr>Calibri</vt:lpstr>
      <vt:lpstr>Times New Roman</vt:lpstr>
      <vt:lpstr>平面</vt:lpstr>
      <vt:lpstr>Model selection (based on FedSGD algorithm)</vt:lpstr>
      <vt:lpstr>Model result analysis</vt:lpstr>
      <vt:lpstr>Model result analysis</vt:lpstr>
      <vt:lpstr>Algorithm comparison (based on CNN model)</vt:lpstr>
      <vt:lpstr>Algorithm result analysis</vt:lpstr>
      <vt:lpstr>Algorithm result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prediction results of FedAvg and FedSGD algorithms based on Fashion-MNIST data set</dc:title>
  <dc:creator>建东 陈</dc:creator>
  <cp:lastModifiedBy>书山压力大</cp:lastModifiedBy>
  <cp:revision>30</cp:revision>
  <dcterms:created xsi:type="dcterms:W3CDTF">2024-05-21T04:17:00Z</dcterms:created>
  <dcterms:modified xsi:type="dcterms:W3CDTF">2024-05-24T09:29:31Z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564ADA4401764C85ACEBD416FC42CF95_12</vt:lpwstr>
  </property>
  <property fmtid="{D5CDD505-2E9C-101B-9397-08002B2CF9AE}" pid="3" name="KSOProductBuildVer">
    <vt:lpwstr>2052-12.1.0.16729</vt:lpwstr>
  </property>
</Properties>
</file>